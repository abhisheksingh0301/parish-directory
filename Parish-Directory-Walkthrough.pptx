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7320"/>
            <a:ext cx="12191695" cy="402336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57400"/>
            <a:ext cx="10241280" cy="822960"/>
          </a:xfrm>
          <a:prstGeom prst="rect">
            <a:avLst/>
          </a:prstGeom>
          <a:noFill/>
        </p:spPr>
        <p:txBody>
          <a:bodyPr wrap="square" lIns="0" rIns="0" tIns="0" bIns="0">
            <a:spAutoFit/>
          </a:bodyPr>
          <a:lstStyle/>
          <a:p>
            <a:pPr algn="l">
              <a:spcAft>
                <a:spcPts val="0"/>
              </a:spcAft>
            </a:pPr>
            <a:r>
              <a:rPr sz="5400" b="1">
                <a:solidFill>
                  <a:srgbClr val="2E2A24"/>
                </a:solidFill>
                <a:latin typeface="Segoe UI"/>
              </a:rPr>
              <a:t>Parish Directory</a:t>
            </a:r>
          </a:p>
        </p:txBody>
      </p:sp>
      <p:sp>
        <p:nvSpPr>
          <p:cNvPr id="5" name="TextBox 4"/>
          <p:cNvSpPr txBox="1"/>
          <p:nvPr/>
        </p:nvSpPr>
        <p:spPr>
          <a:xfrm>
            <a:off x="1005840" y="3017520"/>
            <a:ext cx="10241280" cy="457200"/>
          </a:xfrm>
          <a:prstGeom prst="rect">
            <a:avLst/>
          </a:prstGeom>
          <a:noFill/>
        </p:spPr>
        <p:txBody>
          <a:bodyPr wrap="square" lIns="0" rIns="0" tIns="0" bIns="0">
            <a:spAutoFit/>
          </a:bodyPr>
          <a:lstStyle/>
          <a:p>
            <a:pPr algn="l">
              <a:spcAft>
                <a:spcPts val="0"/>
              </a:spcAft>
            </a:pPr>
            <a:r>
              <a:rPr sz="2200" b="0">
                <a:solidFill>
                  <a:srgbClr val="7A6F5D"/>
                </a:solidFill>
                <a:latin typeface="Segoe UI"/>
              </a:rPr>
              <a:t>A walk-through of every page</a:t>
            </a:r>
          </a:p>
        </p:txBody>
      </p:sp>
      <p:sp>
        <p:nvSpPr>
          <p:cNvPr id="6" name="TextBox 5"/>
          <p:cNvSpPr txBox="1"/>
          <p:nvPr/>
        </p:nvSpPr>
        <p:spPr>
          <a:xfrm>
            <a:off x="1005840" y="3886200"/>
            <a:ext cx="10241280" cy="914400"/>
          </a:xfrm>
          <a:prstGeom prst="rect">
            <a:avLst/>
          </a:prstGeom>
          <a:noFill/>
        </p:spPr>
        <p:txBody>
          <a:bodyPr wrap="square" lIns="0" rIns="0" tIns="0" bIns="0">
            <a:spAutoFit/>
          </a:bodyPr>
          <a:lstStyle/>
          <a:p>
            <a:pPr algn="l">
              <a:spcAft>
                <a:spcPts val="600"/>
              </a:spcAft>
            </a:pPr>
            <a:r>
              <a:rPr sz="1400" b="0">
                <a:solidFill>
                  <a:srgbClr val="7A6F5D"/>
                </a:solidFill>
                <a:latin typeface="Segoe UI"/>
              </a:rPr>
              <a:t>St. Paul’s Cathedral Church, Kolkata</a:t>
            </a:r>
          </a:p>
          <a:p>
            <a:pPr algn="l">
              <a:spcAft>
                <a:spcPts val="600"/>
              </a:spcAft>
            </a:pPr>
            <a:r>
              <a:rPr sz="1400" b="0">
                <a:solidFill>
                  <a:srgbClr val="7A6F5D"/>
                </a:solidFill>
                <a:latin typeface="Segoe UI"/>
              </a:rPr>
              <a:t>Sign in as  church1  /  churchkolkata   —   families sign in with their own email address and  Churchmembers@2026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457200"/>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The pages</a:t>
            </a:r>
          </a:p>
        </p:txBody>
      </p:sp>
      <p:sp>
        <p:nvSpPr>
          <p:cNvPr id="5" name="TextBox 4"/>
          <p:cNvSpPr txBox="1"/>
          <p:nvPr/>
        </p:nvSpPr>
        <p:spPr>
          <a:xfrm>
            <a:off x="566928" y="1005840"/>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Fifteen screens, from the first-run setup to a family completing its own entry.</a:t>
            </a:r>
          </a:p>
        </p:txBody>
      </p:sp>
      <p:sp>
        <p:nvSpPr>
          <p:cNvPr id="6" name="Oval 5"/>
          <p:cNvSpPr/>
          <p:nvPr/>
        </p:nvSpPr>
        <p:spPr>
          <a:xfrm>
            <a:off x="566928" y="1609344"/>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1</a:t>
            </a:r>
          </a:p>
        </p:txBody>
      </p:sp>
      <p:sp>
        <p:nvSpPr>
          <p:cNvPr id="7" name="TextBox 6"/>
          <p:cNvSpPr txBox="1"/>
          <p:nvPr/>
        </p:nvSpPr>
        <p:spPr>
          <a:xfrm>
            <a:off x="1024128" y="1572768"/>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First run</a:t>
            </a:r>
          </a:p>
        </p:txBody>
      </p:sp>
      <p:sp>
        <p:nvSpPr>
          <p:cNvPr id="8" name="TextBox 7"/>
          <p:cNvSpPr txBox="1"/>
          <p:nvPr/>
        </p:nvSpPr>
        <p:spPr>
          <a:xfrm>
            <a:off x="1024128" y="1837944"/>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Name the parish, create the administrator.</a:t>
            </a:r>
          </a:p>
        </p:txBody>
      </p:sp>
      <p:sp>
        <p:nvSpPr>
          <p:cNvPr id="9" name="Oval 8"/>
          <p:cNvSpPr/>
          <p:nvPr/>
        </p:nvSpPr>
        <p:spPr>
          <a:xfrm>
            <a:off x="566928" y="2231136"/>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2</a:t>
            </a:r>
          </a:p>
        </p:txBody>
      </p:sp>
      <p:sp>
        <p:nvSpPr>
          <p:cNvPr id="10" name="TextBox 9"/>
          <p:cNvSpPr txBox="1"/>
          <p:nvPr/>
        </p:nvSpPr>
        <p:spPr>
          <a:xfrm>
            <a:off x="1024128" y="2194560"/>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Sign in</a:t>
            </a:r>
          </a:p>
        </p:txBody>
      </p:sp>
      <p:sp>
        <p:nvSpPr>
          <p:cNvPr id="11" name="TextBox 10"/>
          <p:cNvSpPr txBox="1"/>
          <p:nvPr/>
        </p:nvSpPr>
        <p:spPr>
          <a:xfrm>
            <a:off x="1024128" y="2459736"/>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Every other page needs a session.</a:t>
            </a:r>
          </a:p>
        </p:txBody>
      </p:sp>
      <p:sp>
        <p:nvSpPr>
          <p:cNvPr id="12" name="Oval 11"/>
          <p:cNvSpPr/>
          <p:nvPr/>
        </p:nvSpPr>
        <p:spPr>
          <a:xfrm>
            <a:off x="566928" y="2852928"/>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3</a:t>
            </a:r>
          </a:p>
        </p:txBody>
      </p:sp>
      <p:sp>
        <p:nvSpPr>
          <p:cNvPr id="13" name="TextBox 12"/>
          <p:cNvSpPr txBox="1"/>
          <p:nvPr/>
        </p:nvSpPr>
        <p:spPr>
          <a:xfrm>
            <a:off x="1024128" y="2816352"/>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Dashboard</a:t>
            </a:r>
          </a:p>
        </p:txBody>
      </p:sp>
      <p:sp>
        <p:nvSpPr>
          <p:cNvPr id="14" name="TextBox 13"/>
          <p:cNvSpPr txBox="1"/>
          <p:nvPr/>
        </p:nvSpPr>
        <p:spPr>
          <a:xfrm>
            <a:off x="1024128" y="3081528"/>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Counts, and birthdays in the next 30 days.</a:t>
            </a:r>
          </a:p>
        </p:txBody>
      </p:sp>
      <p:sp>
        <p:nvSpPr>
          <p:cNvPr id="15" name="Oval 14"/>
          <p:cNvSpPr/>
          <p:nvPr/>
        </p:nvSpPr>
        <p:spPr>
          <a:xfrm>
            <a:off x="566928" y="3474720"/>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4</a:t>
            </a:r>
          </a:p>
        </p:txBody>
      </p:sp>
      <p:sp>
        <p:nvSpPr>
          <p:cNvPr id="16" name="TextBox 15"/>
          <p:cNvSpPr txBox="1"/>
          <p:nvPr/>
        </p:nvSpPr>
        <p:spPr>
          <a:xfrm>
            <a:off x="1024128" y="3438144"/>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Families</a:t>
            </a:r>
          </a:p>
        </p:txBody>
      </p:sp>
      <p:sp>
        <p:nvSpPr>
          <p:cNvPr id="17" name="TextBox 16"/>
          <p:cNvSpPr txBox="1"/>
          <p:nvPr/>
        </p:nvSpPr>
        <p:spPr>
          <a:xfrm>
            <a:off x="1024128" y="3703320"/>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The whole list, searchable.</a:t>
            </a:r>
          </a:p>
        </p:txBody>
      </p:sp>
      <p:sp>
        <p:nvSpPr>
          <p:cNvPr id="18" name="Oval 17"/>
          <p:cNvSpPr/>
          <p:nvPr/>
        </p:nvSpPr>
        <p:spPr>
          <a:xfrm>
            <a:off x="566928" y="4096512"/>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5</a:t>
            </a:r>
          </a:p>
        </p:txBody>
      </p:sp>
      <p:sp>
        <p:nvSpPr>
          <p:cNvPr id="19" name="TextBox 18"/>
          <p:cNvSpPr txBox="1"/>
          <p:nvPr/>
        </p:nvSpPr>
        <p:spPr>
          <a:xfrm>
            <a:off x="1024128" y="4059936"/>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Add a family</a:t>
            </a:r>
          </a:p>
        </p:txBody>
      </p:sp>
      <p:sp>
        <p:nvSpPr>
          <p:cNvPr id="20" name="TextBox 19"/>
          <p:cNvSpPr txBox="1"/>
          <p:nvPr/>
        </p:nvSpPr>
        <p:spPr>
          <a:xfrm>
            <a:off x="1024128" y="4325112"/>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Family details, photo, members.</a:t>
            </a:r>
          </a:p>
        </p:txBody>
      </p:sp>
      <p:sp>
        <p:nvSpPr>
          <p:cNvPr id="21" name="Oval 20"/>
          <p:cNvSpPr/>
          <p:nvPr/>
        </p:nvSpPr>
        <p:spPr>
          <a:xfrm>
            <a:off x="566928" y="4718304"/>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6</a:t>
            </a:r>
          </a:p>
        </p:txBody>
      </p:sp>
      <p:sp>
        <p:nvSpPr>
          <p:cNvPr id="22" name="TextBox 21"/>
          <p:cNvSpPr txBox="1"/>
          <p:nvPr/>
        </p:nvSpPr>
        <p:spPr>
          <a:xfrm>
            <a:off x="1024128" y="4681728"/>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Family record</a:t>
            </a:r>
          </a:p>
        </p:txBody>
      </p:sp>
      <p:sp>
        <p:nvSpPr>
          <p:cNvPr id="23" name="TextBox 22"/>
          <p:cNvSpPr txBox="1"/>
          <p:nvPr/>
        </p:nvSpPr>
        <p:spPr>
          <a:xfrm>
            <a:off x="1024128" y="4946904"/>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Everything held about one family.</a:t>
            </a:r>
          </a:p>
        </p:txBody>
      </p:sp>
      <p:sp>
        <p:nvSpPr>
          <p:cNvPr id="24" name="Oval 23"/>
          <p:cNvSpPr/>
          <p:nvPr/>
        </p:nvSpPr>
        <p:spPr>
          <a:xfrm>
            <a:off x="566928" y="5340096"/>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7</a:t>
            </a:r>
          </a:p>
        </p:txBody>
      </p:sp>
      <p:sp>
        <p:nvSpPr>
          <p:cNvPr id="25" name="TextBox 24"/>
          <p:cNvSpPr txBox="1"/>
          <p:nvPr/>
        </p:nvSpPr>
        <p:spPr>
          <a:xfrm>
            <a:off x="1024128" y="5303520"/>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Edit family</a:t>
            </a:r>
          </a:p>
        </p:txBody>
      </p:sp>
      <p:sp>
        <p:nvSpPr>
          <p:cNvPr id="26" name="TextBox 25"/>
          <p:cNvSpPr txBox="1"/>
          <p:nvPr/>
        </p:nvSpPr>
        <p:spPr>
          <a:xfrm>
            <a:off x="1024128" y="5568696"/>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The same form, filled in.</a:t>
            </a:r>
          </a:p>
        </p:txBody>
      </p:sp>
      <p:sp>
        <p:nvSpPr>
          <p:cNvPr id="27" name="Oval 26"/>
          <p:cNvSpPr/>
          <p:nvPr/>
        </p:nvSpPr>
        <p:spPr>
          <a:xfrm>
            <a:off x="566928" y="5961888"/>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8</a:t>
            </a:r>
          </a:p>
        </p:txBody>
      </p:sp>
      <p:sp>
        <p:nvSpPr>
          <p:cNvPr id="28" name="TextBox 27"/>
          <p:cNvSpPr txBox="1"/>
          <p:nvPr/>
        </p:nvSpPr>
        <p:spPr>
          <a:xfrm>
            <a:off x="1024128" y="5925312"/>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Parish settings</a:t>
            </a:r>
          </a:p>
        </p:txBody>
      </p:sp>
      <p:sp>
        <p:nvSpPr>
          <p:cNvPr id="29" name="TextBox 28"/>
          <p:cNvSpPr txBox="1"/>
          <p:nvPr/>
        </p:nvSpPr>
        <p:spPr>
          <a:xfrm>
            <a:off x="1024128" y="6190488"/>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Name, layout, relation codes, colours.</a:t>
            </a:r>
          </a:p>
        </p:txBody>
      </p:sp>
      <p:sp>
        <p:nvSpPr>
          <p:cNvPr id="30" name="Oval 29"/>
          <p:cNvSpPr/>
          <p:nvPr/>
        </p:nvSpPr>
        <p:spPr>
          <a:xfrm>
            <a:off x="6236208" y="1609344"/>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9</a:t>
            </a:r>
          </a:p>
        </p:txBody>
      </p:sp>
      <p:sp>
        <p:nvSpPr>
          <p:cNvPr id="31" name="TextBox 30"/>
          <p:cNvSpPr txBox="1"/>
          <p:nvPr/>
        </p:nvSpPr>
        <p:spPr>
          <a:xfrm>
            <a:off x="6693408" y="1572768"/>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User accounts</a:t>
            </a:r>
          </a:p>
        </p:txBody>
      </p:sp>
      <p:sp>
        <p:nvSpPr>
          <p:cNvPr id="32" name="TextBox 31"/>
          <p:cNvSpPr txBox="1"/>
          <p:nvPr/>
        </p:nvSpPr>
        <p:spPr>
          <a:xfrm>
            <a:off x="6693408" y="1837944"/>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Administrators, editors, viewers.</a:t>
            </a:r>
          </a:p>
        </p:txBody>
      </p:sp>
      <p:sp>
        <p:nvSpPr>
          <p:cNvPr id="33" name="Oval 32"/>
          <p:cNvSpPr/>
          <p:nvPr/>
        </p:nvSpPr>
        <p:spPr>
          <a:xfrm>
            <a:off x="6236208" y="2231136"/>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10</a:t>
            </a:r>
          </a:p>
        </p:txBody>
      </p:sp>
      <p:sp>
        <p:nvSpPr>
          <p:cNvPr id="34" name="TextBox 33"/>
          <p:cNvSpPr txBox="1"/>
          <p:nvPr/>
        </p:nvSpPr>
        <p:spPr>
          <a:xfrm>
            <a:off x="6693408" y="2194560"/>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My account</a:t>
            </a:r>
          </a:p>
        </p:txBody>
      </p:sp>
      <p:sp>
        <p:nvSpPr>
          <p:cNvPr id="35" name="TextBox 34"/>
          <p:cNvSpPr txBox="1"/>
          <p:nvPr/>
        </p:nvSpPr>
        <p:spPr>
          <a:xfrm>
            <a:off x="6693408" y="2459736"/>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Your own name and password.</a:t>
            </a:r>
          </a:p>
        </p:txBody>
      </p:sp>
      <p:sp>
        <p:nvSpPr>
          <p:cNvPr id="36" name="Oval 35"/>
          <p:cNvSpPr/>
          <p:nvPr/>
        </p:nvSpPr>
        <p:spPr>
          <a:xfrm>
            <a:off x="6236208" y="2852928"/>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11</a:t>
            </a:r>
          </a:p>
        </p:txBody>
      </p:sp>
      <p:sp>
        <p:nvSpPr>
          <p:cNvPr id="37" name="TextBox 36"/>
          <p:cNvSpPr txBox="1"/>
          <p:nvPr/>
        </p:nvSpPr>
        <p:spPr>
          <a:xfrm>
            <a:off x="6693408" y="2816352"/>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Print directory</a:t>
            </a:r>
          </a:p>
        </p:txBody>
      </p:sp>
      <p:sp>
        <p:nvSpPr>
          <p:cNvPr id="38" name="TextBox 37"/>
          <p:cNvSpPr txBox="1"/>
          <p:nvPr/>
        </p:nvSpPr>
        <p:spPr>
          <a:xfrm>
            <a:off x="6693408" y="3081528"/>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The printed book, in the browser.</a:t>
            </a:r>
          </a:p>
        </p:txBody>
      </p:sp>
      <p:sp>
        <p:nvSpPr>
          <p:cNvPr id="39" name="Oval 38"/>
          <p:cNvSpPr/>
          <p:nvPr/>
        </p:nvSpPr>
        <p:spPr>
          <a:xfrm>
            <a:off x="6236208" y="3474720"/>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12</a:t>
            </a:r>
          </a:p>
        </p:txBody>
      </p:sp>
      <p:sp>
        <p:nvSpPr>
          <p:cNvPr id="40" name="TextBox 39"/>
          <p:cNvSpPr txBox="1"/>
          <p:nvPr/>
        </p:nvSpPr>
        <p:spPr>
          <a:xfrm>
            <a:off x="6693408" y="3438144"/>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Page not found</a:t>
            </a:r>
          </a:p>
        </p:txBody>
      </p:sp>
      <p:sp>
        <p:nvSpPr>
          <p:cNvPr id="41" name="TextBox 40"/>
          <p:cNvSpPr txBox="1"/>
          <p:nvPr/>
        </p:nvSpPr>
        <p:spPr>
          <a:xfrm>
            <a:off x="6693408" y="3703320"/>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The error page.</a:t>
            </a:r>
          </a:p>
        </p:txBody>
      </p:sp>
      <p:sp>
        <p:nvSpPr>
          <p:cNvPr id="42" name="Oval 41"/>
          <p:cNvSpPr/>
          <p:nvPr/>
        </p:nvSpPr>
        <p:spPr>
          <a:xfrm>
            <a:off x="6236208" y="4096512"/>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13</a:t>
            </a:r>
          </a:p>
        </p:txBody>
      </p:sp>
      <p:sp>
        <p:nvSpPr>
          <p:cNvPr id="43" name="TextBox 42"/>
          <p:cNvSpPr txBox="1"/>
          <p:nvPr/>
        </p:nvSpPr>
        <p:spPr>
          <a:xfrm>
            <a:off x="6693408" y="4059936"/>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Inviting families</a:t>
            </a:r>
          </a:p>
        </p:txBody>
      </p:sp>
      <p:sp>
        <p:nvSpPr>
          <p:cNvPr id="44" name="TextBox 43"/>
          <p:cNvSpPr txBox="1"/>
          <p:nvPr/>
        </p:nvSpPr>
        <p:spPr>
          <a:xfrm>
            <a:off x="6693408" y="4325112"/>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One login each, and every address to write to.</a:t>
            </a:r>
          </a:p>
        </p:txBody>
      </p:sp>
      <p:sp>
        <p:nvSpPr>
          <p:cNvPr id="45" name="Oval 44"/>
          <p:cNvSpPr/>
          <p:nvPr/>
        </p:nvSpPr>
        <p:spPr>
          <a:xfrm>
            <a:off x="6236208" y="4718304"/>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14</a:t>
            </a:r>
          </a:p>
        </p:txBody>
      </p:sp>
      <p:sp>
        <p:nvSpPr>
          <p:cNvPr id="46" name="TextBox 45"/>
          <p:cNvSpPr txBox="1"/>
          <p:nvPr/>
        </p:nvSpPr>
        <p:spPr>
          <a:xfrm>
            <a:off x="6693408" y="4681728"/>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What a family sees</a:t>
            </a:r>
          </a:p>
        </p:txBody>
      </p:sp>
      <p:sp>
        <p:nvSpPr>
          <p:cNvPr id="47" name="TextBox 46"/>
          <p:cNvSpPr txBox="1"/>
          <p:nvPr/>
        </p:nvSpPr>
        <p:spPr>
          <a:xfrm>
            <a:off x="6693408" y="4946904"/>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Their own entry — and only theirs.</a:t>
            </a:r>
          </a:p>
        </p:txBody>
      </p:sp>
      <p:sp>
        <p:nvSpPr>
          <p:cNvPr id="48" name="Oval 47"/>
          <p:cNvSpPr/>
          <p:nvPr/>
        </p:nvSpPr>
        <p:spPr>
          <a:xfrm>
            <a:off x="6236208" y="5340096"/>
            <a:ext cx="310896" cy="310896"/>
          </a:xfrm>
          <a:prstGeom prst="ellipse">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2E2A24"/>
                </a:solidFill>
                <a:latin typeface="Segoe UI"/>
              </a:rPr>
              <a:t>15</a:t>
            </a:r>
          </a:p>
        </p:txBody>
      </p:sp>
      <p:sp>
        <p:nvSpPr>
          <p:cNvPr id="49" name="TextBox 48"/>
          <p:cNvSpPr txBox="1"/>
          <p:nvPr/>
        </p:nvSpPr>
        <p:spPr>
          <a:xfrm>
            <a:off x="6693408" y="5303520"/>
            <a:ext cx="4937760" cy="274320"/>
          </a:xfrm>
          <a:prstGeom prst="rect">
            <a:avLst/>
          </a:prstGeom>
          <a:noFill/>
        </p:spPr>
        <p:txBody>
          <a:bodyPr wrap="square" lIns="0" rIns="0" tIns="0" bIns="0">
            <a:spAutoFit/>
          </a:bodyPr>
          <a:lstStyle/>
          <a:p>
            <a:pPr algn="l">
              <a:spcAft>
                <a:spcPts val="0"/>
              </a:spcAft>
            </a:pPr>
            <a:r>
              <a:rPr sz="1500" b="1">
                <a:solidFill>
                  <a:srgbClr val="2E2A24"/>
                </a:solidFill>
                <a:latin typeface="Segoe UI"/>
              </a:rPr>
              <a:t>Their shorter form</a:t>
            </a:r>
          </a:p>
        </p:txBody>
      </p:sp>
      <p:sp>
        <p:nvSpPr>
          <p:cNvPr id="50" name="TextBox 49"/>
          <p:cNvSpPr txBox="1"/>
          <p:nvPr/>
        </p:nvSpPr>
        <p:spPr>
          <a:xfrm>
            <a:off x="6693408" y="5568696"/>
            <a:ext cx="4937760" cy="274320"/>
          </a:xfrm>
          <a:prstGeom prst="rect">
            <a:avLst/>
          </a:prstGeom>
          <a:noFill/>
        </p:spPr>
        <p:txBody>
          <a:bodyPr wrap="square" lIns="0" rIns="0" tIns="0" bIns="0">
            <a:spAutoFit/>
          </a:bodyPr>
          <a:lstStyle/>
          <a:p>
            <a:pPr algn="l">
              <a:spcAft>
                <a:spcPts val="0"/>
              </a:spcAft>
            </a:pPr>
            <a:r>
              <a:rPr sz="1150" b="0">
                <a:solidFill>
                  <a:srgbClr val="7A6F5D"/>
                </a:solidFill>
                <a:latin typeface="Segoe UI"/>
              </a:rPr>
              <a:t>What a household may change itself.</a:t>
            </a:r>
          </a:p>
        </p:txBody>
      </p:sp>
      <p:sp>
        <p:nvSpPr>
          <p:cNvPr id="51" name="TextBox 50"/>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First run</a:t>
            </a:r>
          </a:p>
        </p:txBody>
      </p:sp>
      <p:sp>
        <p:nvSpPr>
          <p:cNvPr id="5" name="Rounded Rectangle 4"/>
          <p:cNvSpPr/>
          <p:nvPr/>
        </p:nvSpPr>
        <p:spPr>
          <a:xfrm>
            <a:off x="10177272" y="457200"/>
            <a:ext cx="1444752"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/setup</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Shown once, while the directory has no accounts: name the parish and create the administrator. There is no default password to change afterwards.</a:t>
            </a:r>
          </a:p>
        </p:txBody>
      </p:sp>
      <p:pic>
        <p:nvPicPr>
          <p:cNvPr id="7" name="Picture 6" descr="00-setup.png"/>
          <p:cNvPicPr>
            <a:picLocks noChangeAspect="1"/>
          </p:cNvPicPr>
          <p:nvPr/>
        </p:nvPicPr>
        <p:blipFill>
          <a:blip r:embed="rId2"/>
          <a:stretch>
            <a:fillRect/>
          </a:stretch>
        </p:blipFill>
        <p:spPr>
          <a:xfrm>
            <a:off x="4395009" y="1481328"/>
            <a:ext cx="3398934" cy="4828032"/>
          </a:xfrm>
          <a:prstGeom prst="rect">
            <a:avLst/>
          </a:prstGeom>
          <a:ln w="9525">
            <a:solidFill>
              <a:srgbClr val="B6AB97"/>
            </a:solidFill>
          </a:ln>
        </p:spPr>
      </p:pic>
      <p:sp>
        <p:nvSpPr>
          <p:cNvPr id="8" name="TextBox 7"/>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Sign in</a:t>
            </a:r>
          </a:p>
        </p:txBody>
      </p:sp>
      <p:sp>
        <p:nvSpPr>
          <p:cNvPr id="5" name="Rounded Rectangle 4"/>
          <p:cNvSpPr/>
          <p:nvPr/>
        </p:nvSpPr>
        <p:spPr>
          <a:xfrm>
            <a:off x="10177272" y="457200"/>
            <a:ext cx="1444752"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/login</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The only page that does not need a session. Failed attempts are throttled per IP and username; the parish name and title come from Settings.</a:t>
            </a:r>
          </a:p>
        </p:txBody>
      </p:sp>
      <p:pic>
        <p:nvPicPr>
          <p:cNvPr id="7" name="Picture 6" descr="01-login.png"/>
          <p:cNvPicPr>
            <a:picLocks noChangeAspect="1"/>
          </p:cNvPicPr>
          <p:nvPr/>
        </p:nvPicPr>
        <p:blipFill>
          <a:blip r:embed="rId2"/>
          <a:stretch>
            <a:fillRect/>
          </a:stretch>
        </p:blipFill>
        <p:spPr>
          <a:xfrm>
            <a:off x="3412236" y="1920240"/>
            <a:ext cx="5364480" cy="3950208"/>
          </a:xfrm>
          <a:prstGeom prst="rect">
            <a:avLst/>
          </a:prstGeom>
          <a:ln w="9525">
            <a:solidFill>
              <a:srgbClr val="B6AB97"/>
            </a:solidFill>
          </a:ln>
        </p:spPr>
      </p:pic>
      <p:sp>
        <p:nvSpPr>
          <p:cNvPr id="8" name="TextBox 7"/>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Dashboard</a:t>
            </a:r>
          </a:p>
        </p:txBody>
      </p:sp>
      <p:sp>
        <p:nvSpPr>
          <p:cNvPr id="5" name="Rounded Rectangle 4"/>
          <p:cNvSpPr/>
          <p:nvPr/>
        </p:nvSpPr>
        <p:spPr>
          <a:xfrm>
            <a:off x="11000232" y="457200"/>
            <a:ext cx="621792"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Families, people, how many are in the printed book and how many are still drafts — with birthdays and anniversaries falling in the next 30 days.</a:t>
            </a:r>
          </a:p>
        </p:txBody>
      </p:sp>
      <p:pic>
        <p:nvPicPr>
          <p:cNvPr id="7" name="Picture 6" descr="03-dashboard.png"/>
          <p:cNvPicPr>
            <a:picLocks noChangeAspect="1"/>
          </p:cNvPicPr>
          <p:nvPr/>
        </p:nvPicPr>
        <p:blipFill>
          <a:blip r:embed="rId2"/>
          <a:stretch>
            <a:fillRect/>
          </a:stretch>
        </p:blipFill>
        <p:spPr>
          <a:xfrm>
            <a:off x="1205330" y="1481328"/>
            <a:ext cx="9778292" cy="4828032"/>
          </a:xfrm>
          <a:prstGeom prst="rect">
            <a:avLst/>
          </a:prstGeom>
          <a:ln w="9525">
            <a:solidFill>
              <a:srgbClr val="B6AB97"/>
            </a:solidFill>
          </a:ln>
        </p:spPr>
      </p:pic>
      <p:sp>
        <p:nvSpPr>
          <p:cNvPr id="8" name="TextBox 7"/>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Families</a:t>
            </a:r>
          </a:p>
        </p:txBody>
      </p:sp>
      <p:sp>
        <p:nvSpPr>
          <p:cNvPr id="5" name="Rounded Rectangle 4"/>
          <p:cNvSpPr/>
          <p:nvPr/>
        </p:nvSpPr>
        <p:spPr>
          <a:xfrm>
            <a:off x="9683496" y="457200"/>
            <a:ext cx="1938528"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/families</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The whole list, searchable by name, family ID, address, hometown or mobile. Drafts stay out of the printed book; the Login column shows which households can sign in and who is still on the password they were given.</a:t>
            </a:r>
          </a:p>
        </p:txBody>
      </p:sp>
      <p:pic>
        <p:nvPicPr>
          <p:cNvPr id="7" name="Picture 6" descr="04-families.png"/>
          <p:cNvPicPr>
            <a:picLocks noChangeAspect="1"/>
          </p:cNvPicPr>
          <p:nvPr/>
        </p:nvPicPr>
        <p:blipFill>
          <a:blip r:embed="rId2"/>
          <a:stretch>
            <a:fillRect/>
          </a:stretch>
        </p:blipFill>
        <p:spPr>
          <a:xfrm>
            <a:off x="1142648" y="1481328"/>
            <a:ext cx="9903655" cy="4828032"/>
          </a:xfrm>
          <a:prstGeom prst="rect">
            <a:avLst/>
          </a:prstGeom>
          <a:ln w="9525">
            <a:solidFill>
              <a:srgbClr val="B6AB97"/>
            </a:solidFill>
          </a:ln>
        </p:spPr>
      </p:pic>
      <p:sp>
        <p:nvSpPr>
          <p:cNvPr id="8" name="TextBox 7"/>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Add a family</a:t>
            </a:r>
          </a:p>
        </p:txBody>
      </p:sp>
      <p:sp>
        <p:nvSpPr>
          <p:cNvPr id="5" name="Rounded Rectangle 4"/>
          <p:cNvSpPr/>
          <p:nvPr/>
        </p:nvSpPr>
        <p:spPr>
          <a:xfrm>
            <a:off x="9025128" y="457200"/>
            <a:ext cx="2596896"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/families/new</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Family details, an optional 4:3 photograph, and the members — added, reordered and removed in place. A date of birth is a full date, though the year may be left blank; the date of marriage is day and month only. Editors and administrators only.</a:t>
            </a:r>
          </a:p>
        </p:txBody>
      </p:sp>
      <p:pic>
        <p:nvPicPr>
          <p:cNvPr id="7" name="Picture 6" descr="05-family-new.png"/>
          <p:cNvPicPr>
            <a:picLocks noChangeAspect="1"/>
          </p:cNvPicPr>
          <p:nvPr/>
        </p:nvPicPr>
        <p:blipFill>
          <a:blip r:embed="rId2"/>
          <a:srcRect b="50000"/>
          <a:stretch>
            <a:fillRect/>
          </a:stretch>
        </p:blipFill>
        <p:spPr>
          <a:xfrm>
            <a:off x="566928" y="2541430"/>
            <a:ext cx="5426964" cy="2707828"/>
          </a:xfrm>
          <a:prstGeom prst="rect">
            <a:avLst/>
          </a:prstGeom>
          <a:ln w="9525">
            <a:solidFill>
              <a:srgbClr val="B6AB97"/>
            </a:solidFill>
          </a:ln>
        </p:spPr>
      </p:pic>
      <p:pic>
        <p:nvPicPr>
          <p:cNvPr id="8" name="Picture 7" descr="05-family-new.png"/>
          <p:cNvPicPr>
            <a:picLocks noChangeAspect="1"/>
          </p:cNvPicPr>
          <p:nvPr/>
        </p:nvPicPr>
        <p:blipFill>
          <a:blip r:embed="rId2"/>
          <a:srcRect t="50000"/>
          <a:stretch>
            <a:fillRect/>
          </a:stretch>
        </p:blipFill>
        <p:spPr>
          <a:xfrm>
            <a:off x="6195060" y="2541430"/>
            <a:ext cx="5426964" cy="2707828"/>
          </a:xfrm>
          <a:prstGeom prst="rect">
            <a:avLst/>
          </a:prstGeom>
          <a:ln w="9525">
            <a:solidFill>
              <a:srgbClr val="B6AB97"/>
            </a:solidFill>
          </a:ln>
        </p:spPr>
      </p:pic>
      <p:sp>
        <p:nvSpPr>
          <p:cNvPr id="9" name="TextBox 8"/>
          <p:cNvSpPr txBox="1"/>
          <p:nvPr/>
        </p:nvSpPr>
        <p:spPr>
          <a:xfrm>
            <a:off x="566928" y="6382512"/>
            <a:ext cx="11055096" cy="274320"/>
          </a:xfrm>
          <a:prstGeom prst="rect">
            <a:avLst/>
          </a:prstGeom>
          <a:noFill/>
        </p:spPr>
        <p:txBody>
          <a:bodyPr wrap="square" lIns="0" rIns="0" tIns="0" bIns="0">
            <a:spAutoFit/>
          </a:bodyPr>
          <a:lstStyle/>
          <a:p>
            <a:pPr algn="ctr">
              <a:spcAft>
                <a:spcPts val="0"/>
              </a:spcAft>
            </a:pPr>
            <a:r>
              <a:rPr sz="1050" b="0">
                <a:solidFill>
                  <a:srgbClr val="7A6F5D"/>
                </a:solidFill>
                <a:latin typeface="Segoe UI"/>
              </a:rPr>
              <a:t>The page continues on the right — one long form, shown in two halves.</a:t>
            </a:r>
          </a:p>
        </p:txBody>
      </p:sp>
      <p:sp>
        <p:nvSpPr>
          <p:cNvPr id="10" name="TextBox 9"/>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Family record</a:t>
            </a:r>
          </a:p>
        </p:txBody>
      </p:sp>
      <p:sp>
        <p:nvSpPr>
          <p:cNvPr id="5" name="Rounded Rectangle 4"/>
          <p:cNvSpPr/>
          <p:nvPr/>
        </p:nvSpPr>
        <p:spPr>
          <a:xfrm>
            <a:off x="9025128" y="457200"/>
            <a:ext cx="2596896"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/families/:id</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Everything held about one family, including the members table exactly as it will print. An administrator also sees the household’s login here, and can create it or put it back to the default password.</a:t>
            </a:r>
          </a:p>
        </p:txBody>
      </p:sp>
      <p:pic>
        <p:nvPicPr>
          <p:cNvPr id="7" name="Picture 6" descr="06-family-show.png"/>
          <p:cNvPicPr>
            <a:picLocks noChangeAspect="1"/>
          </p:cNvPicPr>
          <p:nvPr/>
        </p:nvPicPr>
        <p:blipFill>
          <a:blip r:embed="rId2"/>
          <a:stretch>
            <a:fillRect/>
          </a:stretch>
        </p:blipFill>
        <p:spPr>
          <a:xfrm>
            <a:off x="3374458" y="1481328"/>
            <a:ext cx="5440036" cy="4828032"/>
          </a:xfrm>
          <a:prstGeom prst="rect">
            <a:avLst/>
          </a:prstGeom>
          <a:ln w="9525">
            <a:solidFill>
              <a:srgbClr val="B6AB97"/>
            </a:solidFill>
          </a:ln>
        </p:spPr>
      </p:pic>
      <p:sp>
        <p:nvSpPr>
          <p:cNvPr id="8" name="TextBox 7"/>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Edit family</a:t>
            </a:r>
          </a:p>
        </p:txBody>
      </p:sp>
      <p:sp>
        <p:nvSpPr>
          <p:cNvPr id="5" name="Rounded Rectangle 4"/>
          <p:cNvSpPr/>
          <p:nvPr/>
        </p:nvSpPr>
        <p:spPr>
          <a:xfrm>
            <a:off x="8202168" y="457200"/>
            <a:ext cx="3419856"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/families/:id/edit</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The same form as Add, filled in, with the delete action at the foot.</a:t>
            </a:r>
          </a:p>
        </p:txBody>
      </p:sp>
      <p:pic>
        <p:nvPicPr>
          <p:cNvPr id="7" name="Picture 6" descr="07-family-edit.png"/>
          <p:cNvPicPr>
            <a:picLocks noChangeAspect="1"/>
          </p:cNvPicPr>
          <p:nvPr/>
        </p:nvPicPr>
        <p:blipFill>
          <a:blip r:embed="rId2"/>
          <a:srcRect b="50000"/>
          <a:stretch>
            <a:fillRect/>
          </a:stretch>
        </p:blipFill>
        <p:spPr>
          <a:xfrm>
            <a:off x="566928" y="2051495"/>
            <a:ext cx="5426964" cy="3687697"/>
          </a:xfrm>
          <a:prstGeom prst="rect">
            <a:avLst/>
          </a:prstGeom>
          <a:ln w="9525">
            <a:solidFill>
              <a:srgbClr val="B6AB97"/>
            </a:solidFill>
          </a:ln>
        </p:spPr>
      </p:pic>
      <p:pic>
        <p:nvPicPr>
          <p:cNvPr id="8" name="Picture 7" descr="07-family-edit.png"/>
          <p:cNvPicPr>
            <a:picLocks noChangeAspect="1"/>
          </p:cNvPicPr>
          <p:nvPr/>
        </p:nvPicPr>
        <p:blipFill>
          <a:blip r:embed="rId2"/>
          <a:srcRect t="50000"/>
          <a:stretch>
            <a:fillRect/>
          </a:stretch>
        </p:blipFill>
        <p:spPr>
          <a:xfrm>
            <a:off x="6195060" y="2051495"/>
            <a:ext cx="5426964" cy="3687697"/>
          </a:xfrm>
          <a:prstGeom prst="rect">
            <a:avLst/>
          </a:prstGeom>
          <a:ln w="9525">
            <a:solidFill>
              <a:srgbClr val="B6AB97"/>
            </a:solidFill>
          </a:ln>
        </p:spPr>
      </p:pic>
      <p:sp>
        <p:nvSpPr>
          <p:cNvPr id="9" name="TextBox 8"/>
          <p:cNvSpPr txBox="1"/>
          <p:nvPr/>
        </p:nvSpPr>
        <p:spPr>
          <a:xfrm>
            <a:off x="566928" y="6382512"/>
            <a:ext cx="11055096" cy="274320"/>
          </a:xfrm>
          <a:prstGeom prst="rect">
            <a:avLst/>
          </a:prstGeom>
          <a:noFill/>
        </p:spPr>
        <p:txBody>
          <a:bodyPr wrap="square" lIns="0" rIns="0" tIns="0" bIns="0">
            <a:spAutoFit/>
          </a:bodyPr>
          <a:lstStyle/>
          <a:p>
            <a:pPr algn="ctr">
              <a:spcAft>
                <a:spcPts val="0"/>
              </a:spcAft>
            </a:pPr>
            <a:r>
              <a:rPr sz="1050" b="0">
                <a:solidFill>
                  <a:srgbClr val="7A6F5D"/>
                </a:solidFill>
                <a:latin typeface="Segoe UI"/>
              </a:rPr>
              <a:t>The page continues on the right — one long form, shown in two halves.</a:t>
            </a:r>
          </a:p>
        </p:txBody>
      </p:sp>
      <p:sp>
        <p:nvSpPr>
          <p:cNvPr id="10" name="TextBox 9"/>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Parish settings</a:t>
            </a:r>
          </a:p>
        </p:txBody>
      </p:sp>
      <p:sp>
        <p:nvSpPr>
          <p:cNvPr id="5" name="Rounded Rectangle 4"/>
          <p:cNvSpPr/>
          <p:nvPr/>
        </p:nvSpPr>
        <p:spPr>
          <a:xfrm>
            <a:off x="8695945" y="457200"/>
            <a:ext cx="2926079"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/admin/settings</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What makes this copy belong to your church: name and title, families per printed page, the starting page number, your relation codes and the five printed colours. Administrators only.</a:t>
            </a:r>
          </a:p>
        </p:txBody>
      </p:sp>
      <p:pic>
        <p:nvPicPr>
          <p:cNvPr id="7" name="Picture 6" descr="08-settings.png"/>
          <p:cNvPicPr>
            <a:picLocks noChangeAspect="1"/>
          </p:cNvPicPr>
          <p:nvPr/>
        </p:nvPicPr>
        <p:blipFill>
          <a:blip r:embed="rId2"/>
          <a:srcRect b="50000"/>
          <a:stretch>
            <a:fillRect/>
          </a:stretch>
        </p:blipFill>
        <p:spPr>
          <a:xfrm>
            <a:off x="566928" y="2422715"/>
            <a:ext cx="5426964" cy="2945258"/>
          </a:xfrm>
          <a:prstGeom prst="rect">
            <a:avLst/>
          </a:prstGeom>
          <a:ln w="9525">
            <a:solidFill>
              <a:srgbClr val="B6AB97"/>
            </a:solidFill>
          </a:ln>
        </p:spPr>
      </p:pic>
      <p:pic>
        <p:nvPicPr>
          <p:cNvPr id="8" name="Picture 7" descr="08-settings.png"/>
          <p:cNvPicPr>
            <a:picLocks noChangeAspect="1"/>
          </p:cNvPicPr>
          <p:nvPr/>
        </p:nvPicPr>
        <p:blipFill>
          <a:blip r:embed="rId2"/>
          <a:srcRect t="50000"/>
          <a:stretch>
            <a:fillRect/>
          </a:stretch>
        </p:blipFill>
        <p:spPr>
          <a:xfrm>
            <a:off x="6195060" y="2422715"/>
            <a:ext cx="5426964" cy="2945258"/>
          </a:xfrm>
          <a:prstGeom prst="rect">
            <a:avLst/>
          </a:prstGeom>
          <a:ln w="9525">
            <a:solidFill>
              <a:srgbClr val="B6AB97"/>
            </a:solidFill>
          </a:ln>
        </p:spPr>
      </p:pic>
      <p:sp>
        <p:nvSpPr>
          <p:cNvPr id="9" name="TextBox 8"/>
          <p:cNvSpPr txBox="1"/>
          <p:nvPr/>
        </p:nvSpPr>
        <p:spPr>
          <a:xfrm>
            <a:off x="566928" y="6382512"/>
            <a:ext cx="11055096" cy="274320"/>
          </a:xfrm>
          <a:prstGeom prst="rect">
            <a:avLst/>
          </a:prstGeom>
          <a:noFill/>
        </p:spPr>
        <p:txBody>
          <a:bodyPr wrap="square" lIns="0" rIns="0" tIns="0" bIns="0">
            <a:spAutoFit/>
          </a:bodyPr>
          <a:lstStyle/>
          <a:p>
            <a:pPr algn="ctr">
              <a:spcAft>
                <a:spcPts val="0"/>
              </a:spcAft>
            </a:pPr>
            <a:r>
              <a:rPr sz="1050" b="0">
                <a:solidFill>
                  <a:srgbClr val="7A6F5D"/>
                </a:solidFill>
                <a:latin typeface="Segoe UI"/>
              </a:rPr>
              <a:t>The page continues on the right — one long form, shown in two halves.</a:t>
            </a:r>
          </a:p>
        </p:txBody>
      </p:sp>
      <p:sp>
        <p:nvSpPr>
          <p:cNvPr id="10" name="TextBox 9"/>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User accounts</a:t>
            </a:r>
          </a:p>
        </p:txBody>
      </p:sp>
      <p:sp>
        <p:nvSpPr>
          <p:cNvPr id="5" name="Rounded Rectangle 4"/>
          <p:cNvSpPr/>
          <p:nvPr/>
        </p:nvSpPr>
        <p:spPr>
          <a:xfrm>
            <a:off x="9189720" y="457200"/>
            <a:ext cx="2432304"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/admin/users</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Administrator, editor or viewer — and the family logins, listed with the family each belongs to. Passwords are hashed with bcrypt; deactivating or deleting someone signs them out everywhere immediately. Administrators only.</a:t>
            </a:r>
          </a:p>
        </p:txBody>
      </p:sp>
      <p:pic>
        <p:nvPicPr>
          <p:cNvPr id="7" name="Picture 6" descr="09-users.png"/>
          <p:cNvPicPr>
            <a:picLocks noChangeAspect="1"/>
          </p:cNvPicPr>
          <p:nvPr/>
        </p:nvPicPr>
        <p:blipFill>
          <a:blip r:embed="rId2"/>
          <a:srcRect b="50000"/>
          <a:stretch>
            <a:fillRect/>
          </a:stretch>
        </p:blipFill>
        <p:spPr>
          <a:xfrm>
            <a:off x="566928" y="2181516"/>
            <a:ext cx="5426964" cy="3427655"/>
          </a:xfrm>
          <a:prstGeom prst="rect">
            <a:avLst/>
          </a:prstGeom>
          <a:ln w="9525">
            <a:solidFill>
              <a:srgbClr val="B6AB97"/>
            </a:solidFill>
          </a:ln>
        </p:spPr>
      </p:pic>
      <p:pic>
        <p:nvPicPr>
          <p:cNvPr id="8" name="Picture 7" descr="09-users.png"/>
          <p:cNvPicPr>
            <a:picLocks noChangeAspect="1"/>
          </p:cNvPicPr>
          <p:nvPr/>
        </p:nvPicPr>
        <p:blipFill>
          <a:blip r:embed="rId2"/>
          <a:srcRect t="50000"/>
          <a:stretch>
            <a:fillRect/>
          </a:stretch>
        </p:blipFill>
        <p:spPr>
          <a:xfrm>
            <a:off x="6195060" y="2181516"/>
            <a:ext cx="5426964" cy="3427655"/>
          </a:xfrm>
          <a:prstGeom prst="rect">
            <a:avLst/>
          </a:prstGeom>
          <a:ln w="9525">
            <a:solidFill>
              <a:srgbClr val="B6AB97"/>
            </a:solidFill>
          </a:ln>
        </p:spPr>
      </p:pic>
      <p:sp>
        <p:nvSpPr>
          <p:cNvPr id="9" name="TextBox 8"/>
          <p:cNvSpPr txBox="1"/>
          <p:nvPr/>
        </p:nvSpPr>
        <p:spPr>
          <a:xfrm>
            <a:off x="566928" y="6382512"/>
            <a:ext cx="11055096" cy="274320"/>
          </a:xfrm>
          <a:prstGeom prst="rect">
            <a:avLst/>
          </a:prstGeom>
          <a:noFill/>
        </p:spPr>
        <p:txBody>
          <a:bodyPr wrap="square" lIns="0" rIns="0" tIns="0" bIns="0">
            <a:spAutoFit/>
          </a:bodyPr>
          <a:lstStyle/>
          <a:p>
            <a:pPr algn="ctr">
              <a:spcAft>
                <a:spcPts val="0"/>
              </a:spcAft>
            </a:pPr>
            <a:r>
              <a:rPr sz="1050" b="0">
                <a:solidFill>
                  <a:srgbClr val="7A6F5D"/>
                </a:solidFill>
                <a:latin typeface="Segoe UI"/>
              </a:rPr>
              <a:t>The page continues on the right — one long form, shown in two halves.</a:t>
            </a:r>
          </a:p>
        </p:txBody>
      </p:sp>
      <p:sp>
        <p:nvSpPr>
          <p:cNvPr id="10" name="TextBox 9"/>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My account</a:t>
            </a:r>
          </a:p>
        </p:txBody>
      </p:sp>
      <p:sp>
        <p:nvSpPr>
          <p:cNvPr id="5" name="Rounded Rectangle 4"/>
          <p:cNvSpPr/>
          <p:nvPr/>
        </p:nvSpPr>
        <p:spPr>
          <a:xfrm>
            <a:off x="9848088" y="457200"/>
            <a:ext cx="1773936"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/account</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Your own display name and password — the one page every role can reach.</a:t>
            </a:r>
          </a:p>
        </p:txBody>
      </p:sp>
      <p:pic>
        <p:nvPicPr>
          <p:cNvPr id="7" name="Picture 6" descr="10-account.png"/>
          <p:cNvPicPr>
            <a:picLocks noChangeAspect="1"/>
          </p:cNvPicPr>
          <p:nvPr/>
        </p:nvPicPr>
        <p:blipFill>
          <a:blip r:embed="rId2"/>
          <a:stretch>
            <a:fillRect/>
          </a:stretch>
        </p:blipFill>
        <p:spPr>
          <a:xfrm>
            <a:off x="1990364" y="1481328"/>
            <a:ext cx="8208224" cy="4828032"/>
          </a:xfrm>
          <a:prstGeom prst="rect">
            <a:avLst/>
          </a:prstGeom>
          <a:ln w="9525">
            <a:solidFill>
              <a:srgbClr val="B6AB97"/>
            </a:solidFill>
          </a:ln>
        </p:spPr>
      </p:pic>
      <p:sp>
        <p:nvSpPr>
          <p:cNvPr id="8" name="TextBox 7"/>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Print directory</a:t>
            </a:r>
          </a:p>
        </p:txBody>
      </p:sp>
      <p:sp>
        <p:nvSpPr>
          <p:cNvPr id="5" name="Rounded Rectangle 4"/>
          <p:cNvSpPr/>
          <p:nvPr/>
        </p:nvSpPr>
        <p:spPr>
          <a:xfrm>
            <a:off x="9518904" y="457200"/>
            <a:ext cx="2103120"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/directory</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The printed book rendered in the browser, page by page, from the same data. Drafts can be previewed; the browser’s print dialog sends it to a printer or saves a PDF.</a:t>
            </a:r>
          </a:p>
        </p:txBody>
      </p:sp>
      <p:pic>
        <p:nvPicPr>
          <p:cNvPr id="7" name="Picture 6" descr="11-directory.png"/>
          <p:cNvPicPr>
            <a:picLocks noChangeAspect="1"/>
          </p:cNvPicPr>
          <p:nvPr/>
        </p:nvPicPr>
        <p:blipFill>
          <a:blip r:embed="rId2"/>
          <a:stretch>
            <a:fillRect/>
          </a:stretch>
        </p:blipFill>
        <p:spPr>
          <a:xfrm>
            <a:off x="2618293" y="1481328"/>
            <a:ext cx="6952366" cy="4828032"/>
          </a:xfrm>
          <a:prstGeom prst="rect">
            <a:avLst/>
          </a:prstGeom>
          <a:ln w="9525">
            <a:solidFill>
              <a:srgbClr val="B6AB97"/>
            </a:solidFill>
          </a:ln>
        </p:spPr>
      </p:pic>
      <p:sp>
        <p:nvSpPr>
          <p:cNvPr id="8" name="TextBox 7"/>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A printed page</a:t>
            </a:r>
          </a:p>
        </p:txBody>
      </p:sp>
      <p:sp>
        <p:nvSpPr>
          <p:cNvPr id="5" name="Rounded Rectangle 4"/>
          <p:cNvSpPr/>
          <p:nvPr/>
        </p:nvSpPr>
        <p:spPr>
          <a:xfrm>
            <a:off x="9518904" y="457200"/>
            <a:ext cx="2103120"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/directory</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One sheet of the book: the name band, the family details, the photograph and the members table — dates of birth in full, and the date of marriage merged across the first two rows, without a year.</a:t>
            </a:r>
          </a:p>
        </p:txBody>
      </p:sp>
      <p:pic>
        <p:nvPicPr>
          <p:cNvPr id="7" name="Picture 6" descr="11b-directory-sheet.png"/>
          <p:cNvPicPr>
            <a:picLocks noChangeAspect="1"/>
          </p:cNvPicPr>
          <p:nvPr/>
        </p:nvPicPr>
        <p:blipFill>
          <a:blip r:embed="rId2"/>
          <a:srcRect b="50000"/>
          <a:stretch>
            <a:fillRect/>
          </a:stretch>
        </p:blipFill>
        <p:spPr>
          <a:xfrm>
            <a:off x="566928" y="2137748"/>
            <a:ext cx="5426964" cy="3515192"/>
          </a:xfrm>
          <a:prstGeom prst="rect">
            <a:avLst/>
          </a:prstGeom>
          <a:ln w="9525">
            <a:solidFill>
              <a:srgbClr val="B6AB97"/>
            </a:solidFill>
          </a:ln>
        </p:spPr>
      </p:pic>
      <p:pic>
        <p:nvPicPr>
          <p:cNvPr id="8" name="Picture 7" descr="11b-directory-sheet.png"/>
          <p:cNvPicPr>
            <a:picLocks noChangeAspect="1"/>
          </p:cNvPicPr>
          <p:nvPr/>
        </p:nvPicPr>
        <p:blipFill>
          <a:blip r:embed="rId2"/>
          <a:srcRect t="50000"/>
          <a:stretch>
            <a:fillRect/>
          </a:stretch>
        </p:blipFill>
        <p:spPr>
          <a:xfrm>
            <a:off x="6195060" y="2137748"/>
            <a:ext cx="5426964" cy="3515192"/>
          </a:xfrm>
          <a:prstGeom prst="rect">
            <a:avLst/>
          </a:prstGeom>
          <a:ln w="9525">
            <a:solidFill>
              <a:srgbClr val="B6AB97"/>
            </a:solidFill>
          </a:ln>
        </p:spPr>
      </p:pic>
      <p:sp>
        <p:nvSpPr>
          <p:cNvPr id="9" name="TextBox 8"/>
          <p:cNvSpPr txBox="1"/>
          <p:nvPr/>
        </p:nvSpPr>
        <p:spPr>
          <a:xfrm>
            <a:off x="566928" y="6382512"/>
            <a:ext cx="11055096" cy="274320"/>
          </a:xfrm>
          <a:prstGeom prst="rect">
            <a:avLst/>
          </a:prstGeom>
          <a:noFill/>
        </p:spPr>
        <p:txBody>
          <a:bodyPr wrap="square" lIns="0" rIns="0" tIns="0" bIns="0">
            <a:spAutoFit/>
          </a:bodyPr>
          <a:lstStyle/>
          <a:p>
            <a:pPr algn="ctr">
              <a:spcAft>
                <a:spcPts val="0"/>
              </a:spcAft>
            </a:pPr>
            <a:r>
              <a:rPr sz="1050" b="0">
                <a:solidFill>
                  <a:srgbClr val="7A6F5D"/>
                </a:solidFill>
                <a:latin typeface="Segoe UI"/>
              </a:rPr>
              <a:t>One A4 sheet, top on the left and foot on the right — two families to a page, as set in Settings.</a:t>
            </a:r>
          </a:p>
        </p:txBody>
      </p:sp>
      <p:sp>
        <p:nvSpPr>
          <p:cNvPr id="10" name="TextBox 9"/>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Page not found</a:t>
            </a:r>
          </a:p>
        </p:txBody>
      </p:sp>
      <p:sp>
        <p:nvSpPr>
          <p:cNvPr id="5" name="Rounded Rectangle 4"/>
          <p:cNvSpPr/>
          <p:nvPr/>
        </p:nvSpPr>
        <p:spPr>
          <a:xfrm>
            <a:off x="11000232" y="457200"/>
            <a:ext cx="621792"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The error page as a parish sees it. In development it also prints the stack trace.</a:t>
            </a:r>
          </a:p>
        </p:txBody>
      </p:sp>
      <p:pic>
        <p:nvPicPr>
          <p:cNvPr id="7" name="Picture 6" descr="12-error.png"/>
          <p:cNvPicPr>
            <a:picLocks noChangeAspect="1"/>
          </p:cNvPicPr>
          <p:nvPr/>
        </p:nvPicPr>
        <p:blipFill>
          <a:blip r:embed="rId2"/>
          <a:stretch>
            <a:fillRect/>
          </a:stretch>
        </p:blipFill>
        <p:spPr>
          <a:xfrm>
            <a:off x="3412236" y="2785872"/>
            <a:ext cx="5364480" cy="2218944"/>
          </a:xfrm>
          <a:prstGeom prst="rect">
            <a:avLst/>
          </a:prstGeom>
          <a:ln w="9525">
            <a:solidFill>
              <a:srgbClr val="B6AB97"/>
            </a:solidFill>
          </a:ln>
        </p:spPr>
      </p:pic>
      <p:sp>
        <p:nvSpPr>
          <p:cNvPr id="8" name="TextBox 7"/>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Inviting families</a:t>
            </a:r>
          </a:p>
        </p:txBody>
      </p:sp>
      <p:sp>
        <p:nvSpPr>
          <p:cNvPr id="5" name="Rounded Rectangle 4"/>
          <p:cNvSpPr/>
          <p:nvPr/>
        </p:nvSpPr>
        <p:spPr>
          <a:xfrm>
            <a:off x="9683496" y="457200"/>
            <a:ext cx="1938528"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/families</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Collecting a directory by hand is the slow part. One button gives every family with an email address a login; the box below hands back all of those addresses, comma separated, for the Bcc line of a single message.</a:t>
            </a:r>
          </a:p>
        </p:txBody>
      </p:sp>
      <p:pic>
        <p:nvPicPr>
          <p:cNvPr id="7" name="Picture 6" descr="16-invite.png"/>
          <p:cNvPicPr>
            <a:picLocks noChangeAspect="1"/>
          </p:cNvPicPr>
          <p:nvPr/>
        </p:nvPicPr>
        <p:blipFill>
          <a:blip r:embed="rId2"/>
          <a:stretch>
            <a:fillRect/>
          </a:stretch>
        </p:blipFill>
        <p:spPr>
          <a:xfrm>
            <a:off x="1407925" y="1481328"/>
            <a:ext cx="9373102" cy="4828032"/>
          </a:xfrm>
          <a:prstGeom prst="rect">
            <a:avLst/>
          </a:prstGeom>
          <a:ln w="9525">
            <a:solidFill>
              <a:srgbClr val="B6AB97"/>
            </a:solidFill>
          </a:ln>
        </p:spPr>
      </p:pic>
      <p:sp>
        <p:nvSpPr>
          <p:cNvPr id="8" name="TextBox 7"/>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What a family sees</a:t>
            </a:r>
          </a:p>
        </p:txBody>
      </p:sp>
      <p:sp>
        <p:nvSpPr>
          <p:cNvPr id="5" name="Rounded Rectangle 4"/>
          <p:cNvSpPr/>
          <p:nvPr/>
        </p:nvSpPr>
        <p:spPr>
          <a:xfrm>
            <a:off x="9025128" y="457200"/>
            <a:ext cx="2596896"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/families/:id</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Their own entry and nothing else — no list, no dashboard, no printed book. The reminder stays until they choose a password of their own; “Not now” dismisses it for this visit.</a:t>
            </a:r>
          </a:p>
        </p:txBody>
      </p:sp>
      <p:pic>
        <p:nvPicPr>
          <p:cNvPr id="7" name="Picture 6" descr="17-family-view.png"/>
          <p:cNvPicPr>
            <a:picLocks noChangeAspect="1"/>
          </p:cNvPicPr>
          <p:nvPr/>
        </p:nvPicPr>
        <p:blipFill>
          <a:blip r:embed="rId2"/>
          <a:stretch>
            <a:fillRect/>
          </a:stretch>
        </p:blipFill>
        <p:spPr>
          <a:xfrm>
            <a:off x="3058508" y="1481328"/>
            <a:ext cx="6071935" cy="4828032"/>
          </a:xfrm>
          <a:prstGeom prst="rect">
            <a:avLst/>
          </a:prstGeom>
          <a:ln w="9525">
            <a:solidFill>
              <a:srgbClr val="B6AB97"/>
            </a:solidFill>
          </a:ln>
        </p:spPr>
      </p:pic>
      <p:sp>
        <p:nvSpPr>
          <p:cNvPr id="8" name="TextBox 7"/>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Their shorter form</a:t>
            </a:r>
          </a:p>
        </p:txBody>
      </p:sp>
      <p:sp>
        <p:nvSpPr>
          <p:cNvPr id="5" name="Rounded Rectangle 4"/>
          <p:cNvSpPr/>
          <p:nvPr/>
        </p:nvSpPr>
        <p:spPr>
          <a:xfrm>
            <a:off x="8202168" y="457200"/>
            <a:ext cx="3419856" cy="310896"/>
          </a:xfrm>
          <a:prstGeom prst="roundRect">
            <a:avLst>
              <a:gd name="adj" fmla="val 50000"/>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a:solidFill>
                  <a:srgbClr val="2E2A24"/>
                </a:solidFill>
                <a:latin typeface="Consolas"/>
              </a:rPr>
              <a:t>/families/:id/edit</a:t>
            </a:r>
          </a:p>
        </p:txBody>
      </p:sp>
      <p:sp>
        <p:nvSpPr>
          <p:cNvPr id="6" name="TextBox 5"/>
          <p:cNvSpPr txBox="1"/>
          <p:nvPr/>
        </p:nvSpPr>
        <p:spPr>
          <a:xfrm>
            <a:off x="566928" y="932688"/>
            <a:ext cx="10424160" cy="365760"/>
          </a:xfrm>
          <a:prstGeom prst="rect">
            <a:avLst/>
          </a:prstGeom>
          <a:noFill/>
        </p:spPr>
        <p:txBody>
          <a:bodyPr wrap="square" lIns="0" rIns="0" tIns="0" bIns="0">
            <a:spAutoFit/>
          </a:bodyPr>
          <a:lstStyle/>
          <a:p>
            <a:pPr algn="l">
              <a:spcAft>
                <a:spcPts val="0"/>
              </a:spcAft>
            </a:pPr>
            <a:r>
              <a:rPr sz="1350" b="0">
                <a:solidFill>
                  <a:srgbClr val="7A6F5D"/>
                </a:solidFill>
                <a:latin typeface="Segoe UI"/>
              </a:rPr>
              <a:t>A household may change its address, its members, its dates and its photograph. The family ID and whether the entry is printed belong to the parish office, and there is no delete button.</a:t>
            </a:r>
          </a:p>
        </p:txBody>
      </p:sp>
      <p:pic>
        <p:nvPicPr>
          <p:cNvPr id="7" name="Picture 6" descr="18-family-form.png"/>
          <p:cNvPicPr>
            <a:picLocks noChangeAspect="1"/>
          </p:cNvPicPr>
          <p:nvPr/>
        </p:nvPicPr>
        <p:blipFill>
          <a:blip r:embed="rId2"/>
          <a:srcRect b="50000"/>
          <a:stretch>
            <a:fillRect/>
          </a:stretch>
        </p:blipFill>
        <p:spPr>
          <a:xfrm>
            <a:off x="566928" y="2168326"/>
            <a:ext cx="5426964" cy="3454036"/>
          </a:xfrm>
          <a:prstGeom prst="rect">
            <a:avLst/>
          </a:prstGeom>
          <a:ln w="9525">
            <a:solidFill>
              <a:srgbClr val="B6AB97"/>
            </a:solidFill>
          </a:ln>
        </p:spPr>
      </p:pic>
      <p:pic>
        <p:nvPicPr>
          <p:cNvPr id="8" name="Picture 7" descr="18-family-form.png"/>
          <p:cNvPicPr>
            <a:picLocks noChangeAspect="1"/>
          </p:cNvPicPr>
          <p:nvPr/>
        </p:nvPicPr>
        <p:blipFill>
          <a:blip r:embed="rId2"/>
          <a:srcRect t="50000"/>
          <a:stretch>
            <a:fillRect/>
          </a:stretch>
        </p:blipFill>
        <p:spPr>
          <a:xfrm>
            <a:off x="6195060" y="2168326"/>
            <a:ext cx="5426964" cy="3454036"/>
          </a:xfrm>
          <a:prstGeom prst="rect">
            <a:avLst/>
          </a:prstGeom>
          <a:ln w="9525">
            <a:solidFill>
              <a:srgbClr val="B6AB97"/>
            </a:solidFill>
          </a:ln>
        </p:spPr>
      </p:pic>
      <p:sp>
        <p:nvSpPr>
          <p:cNvPr id="9" name="TextBox 8"/>
          <p:cNvSpPr txBox="1"/>
          <p:nvPr/>
        </p:nvSpPr>
        <p:spPr>
          <a:xfrm>
            <a:off x="566928" y="6382512"/>
            <a:ext cx="11055096" cy="274320"/>
          </a:xfrm>
          <a:prstGeom prst="rect">
            <a:avLst/>
          </a:prstGeom>
          <a:noFill/>
        </p:spPr>
        <p:txBody>
          <a:bodyPr wrap="square" lIns="0" rIns="0" tIns="0" bIns="0">
            <a:spAutoFit/>
          </a:bodyPr>
          <a:lstStyle/>
          <a:p>
            <a:pPr algn="ctr">
              <a:spcAft>
                <a:spcPts val="0"/>
              </a:spcAft>
            </a:pPr>
            <a:r>
              <a:rPr sz="1050" b="0">
                <a:solidFill>
                  <a:srgbClr val="7A6F5D"/>
                </a:solidFill>
                <a:latin typeface="Segoe UI"/>
              </a:rPr>
              <a:t>The page continues on the right — one long form, shown in two halves.</a:t>
            </a:r>
          </a:p>
        </p:txBody>
      </p:sp>
      <p:sp>
        <p:nvSpPr>
          <p:cNvPr id="10" name="TextBox 9"/>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CEC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457200"/>
            <a:ext cx="8229600" cy="457200"/>
          </a:xfrm>
          <a:prstGeom prst="rect">
            <a:avLst/>
          </a:prstGeom>
          <a:noFill/>
        </p:spPr>
        <p:txBody>
          <a:bodyPr wrap="square" lIns="0" rIns="0" tIns="0" bIns="0">
            <a:spAutoFit/>
          </a:bodyPr>
          <a:lstStyle/>
          <a:p>
            <a:pPr algn="l">
              <a:spcAft>
                <a:spcPts val="0"/>
              </a:spcAft>
            </a:pPr>
            <a:r>
              <a:rPr sz="2700" b="1">
                <a:solidFill>
                  <a:srgbClr val="2E2A24"/>
                </a:solidFill>
                <a:latin typeface="Segoe UI"/>
              </a:rPr>
              <a:t>Who can do what</a:t>
            </a:r>
          </a:p>
        </p:txBody>
      </p:sp>
      <p:sp>
        <p:nvSpPr>
          <p:cNvPr id="5" name="Rounded Rectangle 4"/>
          <p:cNvSpPr/>
          <p:nvPr/>
        </p:nvSpPr>
        <p:spPr>
          <a:xfrm>
            <a:off x="566928" y="1207008"/>
            <a:ext cx="11055096" cy="640080"/>
          </a:xfrm>
          <a:prstGeom prst="roundRect">
            <a:avLst>
              <a:gd name="adj" fmla="val 14000"/>
            </a:avLst>
          </a:prstGeom>
          <a:solidFill>
            <a:srgbClr val="FFFFFF"/>
          </a:solidFill>
          <a:ln w="9525">
            <a:solidFill>
              <a:srgbClr val="CEC4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2743200" cy="365760"/>
          </a:xfrm>
          <a:prstGeom prst="rect">
            <a:avLst/>
          </a:prstGeom>
          <a:noFill/>
        </p:spPr>
        <p:txBody>
          <a:bodyPr wrap="square" lIns="0" rIns="0" tIns="0" bIns="0">
            <a:spAutoFit/>
          </a:bodyPr>
          <a:lstStyle/>
          <a:p>
            <a:pPr algn="l">
              <a:spcAft>
                <a:spcPts val="0"/>
              </a:spcAft>
            </a:pPr>
            <a:r>
              <a:rPr sz="1600" b="1">
                <a:solidFill>
                  <a:srgbClr val="2E2A24"/>
                </a:solidFill>
                <a:latin typeface="Segoe UI"/>
              </a:rPr>
              <a:t>Administrator</a:t>
            </a:r>
          </a:p>
        </p:txBody>
      </p:sp>
      <p:sp>
        <p:nvSpPr>
          <p:cNvPr id="7" name="TextBox 6"/>
          <p:cNvSpPr txBox="1"/>
          <p:nvPr/>
        </p:nvSpPr>
        <p:spPr>
          <a:xfrm>
            <a:off x="3840480" y="1389888"/>
            <a:ext cx="7498079" cy="365760"/>
          </a:xfrm>
          <a:prstGeom prst="rect">
            <a:avLst/>
          </a:prstGeom>
          <a:noFill/>
        </p:spPr>
        <p:txBody>
          <a:bodyPr wrap="square" lIns="0" rIns="0" tIns="0" bIns="0">
            <a:spAutoFit/>
          </a:bodyPr>
          <a:lstStyle/>
          <a:p>
            <a:pPr algn="l">
              <a:spcAft>
                <a:spcPts val="0"/>
              </a:spcAft>
            </a:pPr>
            <a:r>
              <a:rPr sz="1400" b="0">
                <a:solidFill>
                  <a:srgbClr val="7A6F5D"/>
                </a:solidFill>
                <a:latin typeface="Segoe UI"/>
              </a:rPr>
              <a:t>Everything, plus parish settings and user accounts</a:t>
            </a:r>
          </a:p>
        </p:txBody>
      </p:sp>
      <p:sp>
        <p:nvSpPr>
          <p:cNvPr id="8" name="Rounded Rectangle 7"/>
          <p:cNvSpPr/>
          <p:nvPr/>
        </p:nvSpPr>
        <p:spPr>
          <a:xfrm>
            <a:off x="566928" y="1993392"/>
            <a:ext cx="11055096" cy="640080"/>
          </a:xfrm>
          <a:prstGeom prst="roundRect">
            <a:avLst>
              <a:gd name="adj" fmla="val 14000"/>
            </a:avLst>
          </a:prstGeom>
          <a:solidFill>
            <a:srgbClr val="FFFFFF"/>
          </a:solidFill>
          <a:ln w="9525">
            <a:solidFill>
              <a:srgbClr val="CEC4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57984"/>
            <a:ext cx="2743200" cy="365760"/>
          </a:xfrm>
          <a:prstGeom prst="rect">
            <a:avLst/>
          </a:prstGeom>
          <a:noFill/>
        </p:spPr>
        <p:txBody>
          <a:bodyPr wrap="square" lIns="0" rIns="0" tIns="0" bIns="0">
            <a:spAutoFit/>
          </a:bodyPr>
          <a:lstStyle/>
          <a:p>
            <a:pPr algn="l">
              <a:spcAft>
                <a:spcPts val="0"/>
              </a:spcAft>
            </a:pPr>
            <a:r>
              <a:rPr sz="1600" b="1">
                <a:solidFill>
                  <a:srgbClr val="2E2A24"/>
                </a:solidFill>
                <a:latin typeface="Segoe UI"/>
              </a:rPr>
              <a:t>Editor</a:t>
            </a:r>
          </a:p>
        </p:txBody>
      </p:sp>
      <p:sp>
        <p:nvSpPr>
          <p:cNvPr id="10" name="TextBox 9"/>
          <p:cNvSpPr txBox="1"/>
          <p:nvPr/>
        </p:nvSpPr>
        <p:spPr>
          <a:xfrm>
            <a:off x="3840480" y="2176272"/>
            <a:ext cx="7498079" cy="365760"/>
          </a:xfrm>
          <a:prstGeom prst="rect">
            <a:avLst/>
          </a:prstGeom>
          <a:noFill/>
        </p:spPr>
        <p:txBody>
          <a:bodyPr wrap="square" lIns="0" rIns="0" tIns="0" bIns="0">
            <a:spAutoFit/>
          </a:bodyPr>
          <a:lstStyle/>
          <a:p>
            <a:pPr algn="l">
              <a:spcAft>
                <a:spcPts val="0"/>
              </a:spcAft>
            </a:pPr>
            <a:r>
              <a:rPr sz="1400" b="0">
                <a:solidFill>
                  <a:srgbClr val="7A6F5D"/>
                </a:solidFill>
                <a:latin typeface="Segoe UI"/>
              </a:rPr>
              <a:t>Add, edit and delete families</a:t>
            </a:r>
          </a:p>
        </p:txBody>
      </p:sp>
      <p:sp>
        <p:nvSpPr>
          <p:cNvPr id="11" name="Rounded Rectangle 10"/>
          <p:cNvSpPr/>
          <p:nvPr/>
        </p:nvSpPr>
        <p:spPr>
          <a:xfrm>
            <a:off x="566928" y="2779776"/>
            <a:ext cx="11055096" cy="640080"/>
          </a:xfrm>
          <a:prstGeom prst="roundRect">
            <a:avLst>
              <a:gd name="adj" fmla="val 14000"/>
            </a:avLst>
          </a:prstGeom>
          <a:solidFill>
            <a:srgbClr val="FFFFFF"/>
          </a:solidFill>
          <a:ln w="9525">
            <a:solidFill>
              <a:srgbClr val="CEC4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44368"/>
            <a:ext cx="2743200" cy="365760"/>
          </a:xfrm>
          <a:prstGeom prst="rect">
            <a:avLst/>
          </a:prstGeom>
          <a:noFill/>
        </p:spPr>
        <p:txBody>
          <a:bodyPr wrap="square" lIns="0" rIns="0" tIns="0" bIns="0">
            <a:spAutoFit/>
          </a:bodyPr>
          <a:lstStyle/>
          <a:p>
            <a:pPr algn="l">
              <a:spcAft>
                <a:spcPts val="0"/>
              </a:spcAft>
            </a:pPr>
            <a:r>
              <a:rPr sz="1600" b="1">
                <a:solidFill>
                  <a:srgbClr val="2E2A24"/>
                </a:solidFill>
                <a:latin typeface="Segoe UI"/>
              </a:rPr>
              <a:t>Viewer</a:t>
            </a:r>
          </a:p>
        </p:txBody>
      </p:sp>
      <p:sp>
        <p:nvSpPr>
          <p:cNvPr id="13" name="TextBox 12"/>
          <p:cNvSpPr txBox="1"/>
          <p:nvPr/>
        </p:nvSpPr>
        <p:spPr>
          <a:xfrm>
            <a:off x="3840480" y="2962656"/>
            <a:ext cx="7498079" cy="365760"/>
          </a:xfrm>
          <a:prstGeom prst="rect">
            <a:avLst/>
          </a:prstGeom>
          <a:noFill/>
        </p:spPr>
        <p:txBody>
          <a:bodyPr wrap="square" lIns="0" rIns="0" tIns="0" bIns="0">
            <a:spAutoFit/>
          </a:bodyPr>
          <a:lstStyle/>
          <a:p>
            <a:pPr algn="l">
              <a:spcAft>
                <a:spcPts val="0"/>
              </a:spcAft>
            </a:pPr>
            <a:r>
              <a:rPr sz="1400" b="0">
                <a:solidFill>
                  <a:srgbClr val="7A6F5D"/>
                </a:solidFill>
                <a:latin typeface="Segoe UI"/>
              </a:rPr>
              <a:t>Browse and print the directory; change nothing</a:t>
            </a:r>
          </a:p>
        </p:txBody>
      </p:sp>
      <p:sp>
        <p:nvSpPr>
          <p:cNvPr id="14" name="Rounded Rectangle 13"/>
          <p:cNvSpPr/>
          <p:nvPr/>
        </p:nvSpPr>
        <p:spPr>
          <a:xfrm>
            <a:off x="566928" y="3566160"/>
            <a:ext cx="11055096" cy="640080"/>
          </a:xfrm>
          <a:prstGeom prst="roundRect">
            <a:avLst>
              <a:gd name="adj" fmla="val 14000"/>
            </a:avLst>
          </a:prstGeom>
          <a:solidFill>
            <a:srgbClr val="FFFFFF"/>
          </a:solidFill>
          <a:ln w="9525">
            <a:solidFill>
              <a:srgbClr val="CEC4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730752"/>
            <a:ext cx="2743200" cy="365760"/>
          </a:xfrm>
          <a:prstGeom prst="rect">
            <a:avLst/>
          </a:prstGeom>
          <a:noFill/>
        </p:spPr>
        <p:txBody>
          <a:bodyPr wrap="square" lIns="0" rIns="0" tIns="0" bIns="0">
            <a:spAutoFit/>
          </a:bodyPr>
          <a:lstStyle/>
          <a:p>
            <a:pPr algn="l">
              <a:spcAft>
                <a:spcPts val="0"/>
              </a:spcAft>
            </a:pPr>
            <a:r>
              <a:rPr sz="1600" b="1">
                <a:solidFill>
                  <a:srgbClr val="2E2A24"/>
                </a:solidFill>
                <a:latin typeface="Segoe UI"/>
              </a:rPr>
              <a:t>Family</a:t>
            </a:r>
          </a:p>
        </p:txBody>
      </p:sp>
      <p:sp>
        <p:nvSpPr>
          <p:cNvPr id="16" name="TextBox 15"/>
          <p:cNvSpPr txBox="1"/>
          <p:nvPr/>
        </p:nvSpPr>
        <p:spPr>
          <a:xfrm>
            <a:off x="3840480" y="3749040"/>
            <a:ext cx="7498079" cy="365760"/>
          </a:xfrm>
          <a:prstGeom prst="rect">
            <a:avLst/>
          </a:prstGeom>
          <a:noFill/>
        </p:spPr>
        <p:txBody>
          <a:bodyPr wrap="square" lIns="0" rIns="0" tIns="0" bIns="0">
            <a:spAutoFit/>
          </a:bodyPr>
          <a:lstStyle/>
          <a:p>
            <a:pPr algn="l">
              <a:spcAft>
                <a:spcPts val="0"/>
              </a:spcAft>
            </a:pPr>
            <a:r>
              <a:rPr sz="1400" b="0">
                <a:solidFill>
                  <a:srgbClr val="7A6F5D"/>
                </a:solidFill>
                <a:latin typeface="Segoe UI"/>
              </a:rPr>
              <a:t>Complete and correct their own entry, and nothing else</a:t>
            </a:r>
          </a:p>
        </p:txBody>
      </p:sp>
      <p:sp>
        <p:nvSpPr>
          <p:cNvPr id="17" name="TextBox 16"/>
          <p:cNvSpPr txBox="1"/>
          <p:nvPr/>
        </p:nvSpPr>
        <p:spPr>
          <a:xfrm>
            <a:off x="566928" y="4572000"/>
            <a:ext cx="5486400" cy="365760"/>
          </a:xfrm>
          <a:prstGeom prst="rect">
            <a:avLst/>
          </a:prstGeom>
          <a:noFill/>
        </p:spPr>
        <p:txBody>
          <a:bodyPr wrap="square" lIns="0" rIns="0" tIns="0" bIns="0">
            <a:spAutoFit/>
          </a:bodyPr>
          <a:lstStyle/>
          <a:p>
            <a:pPr algn="l">
              <a:spcAft>
                <a:spcPts val="0"/>
              </a:spcAft>
            </a:pPr>
            <a:r>
              <a:rPr sz="1900" b="1">
                <a:solidFill>
                  <a:srgbClr val="2E2A24"/>
                </a:solidFill>
                <a:latin typeface="Segoe UI"/>
              </a:rPr>
              <a:t>Signing in</a:t>
            </a:r>
          </a:p>
        </p:txBody>
      </p:sp>
      <p:sp>
        <p:nvSpPr>
          <p:cNvPr id="18" name="TextBox 17"/>
          <p:cNvSpPr txBox="1"/>
          <p:nvPr/>
        </p:nvSpPr>
        <p:spPr>
          <a:xfrm>
            <a:off x="566928" y="5029200"/>
            <a:ext cx="5669280" cy="1280160"/>
          </a:xfrm>
          <a:prstGeom prst="rect">
            <a:avLst/>
          </a:prstGeom>
          <a:noFill/>
        </p:spPr>
        <p:txBody>
          <a:bodyPr wrap="square" lIns="0" rIns="0" tIns="0" bIns="0">
            <a:spAutoFit/>
          </a:bodyPr>
          <a:lstStyle/>
          <a:p>
            <a:pPr algn="l">
              <a:spcAft>
                <a:spcPts val="500"/>
              </a:spcAft>
            </a:pPr>
            <a:r>
              <a:rPr sz="1350" b="0">
                <a:solidFill>
                  <a:srgbClr val="2E2A24"/>
                </a:solidFill>
                <a:latin typeface="Consolas"/>
              </a:rPr>
              <a:t>Administrator    church1  /  churchkolkata</a:t>
            </a:r>
          </a:p>
          <a:p>
            <a:pPr algn="l">
              <a:spcAft>
                <a:spcPts val="500"/>
              </a:spcAft>
            </a:pPr>
            <a:r>
              <a:rPr sz="1350" b="0">
                <a:solidFill>
                  <a:srgbClr val="2E2A24"/>
                </a:solidFill>
                <a:latin typeface="Consolas"/>
              </a:rPr>
              <a:t>Every family     their own email address</a:t>
            </a:r>
          </a:p>
          <a:p>
            <a:pPr algn="l">
              <a:spcAft>
                <a:spcPts val="500"/>
              </a:spcAft>
            </a:pPr>
            <a:r>
              <a:rPr sz="1350" b="0">
                <a:solidFill>
                  <a:srgbClr val="2E2A24"/>
                </a:solidFill>
                <a:latin typeface="Consolas"/>
              </a:rPr>
              <a:t>                 /  Churchmembers@2026</a:t>
            </a:r>
          </a:p>
        </p:txBody>
      </p:sp>
      <p:sp>
        <p:nvSpPr>
          <p:cNvPr id="19" name="TextBox 18"/>
          <p:cNvSpPr txBox="1"/>
          <p:nvPr/>
        </p:nvSpPr>
        <p:spPr>
          <a:xfrm>
            <a:off x="6492240" y="4572000"/>
            <a:ext cx="5120640" cy="365760"/>
          </a:xfrm>
          <a:prstGeom prst="rect">
            <a:avLst/>
          </a:prstGeom>
          <a:noFill/>
        </p:spPr>
        <p:txBody>
          <a:bodyPr wrap="square" lIns="0" rIns="0" tIns="0" bIns="0">
            <a:spAutoFit/>
          </a:bodyPr>
          <a:lstStyle/>
          <a:p>
            <a:pPr algn="l">
              <a:spcAft>
                <a:spcPts val="0"/>
              </a:spcAft>
            </a:pPr>
            <a:r>
              <a:rPr sz="1900" b="1">
                <a:solidFill>
                  <a:srgbClr val="2E2A24"/>
                </a:solidFill>
                <a:latin typeface="Segoe UI"/>
              </a:rPr>
              <a:t>The shared password</a:t>
            </a:r>
          </a:p>
        </p:txBody>
      </p:sp>
      <p:sp>
        <p:nvSpPr>
          <p:cNvPr id="20" name="TextBox 19"/>
          <p:cNvSpPr txBox="1"/>
          <p:nvPr/>
        </p:nvSpPr>
        <p:spPr>
          <a:xfrm>
            <a:off x="6492240" y="5029200"/>
            <a:ext cx="5120640" cy="1371600"/>
          </a:xfrm>
          <a:prstGeom prst="rect">
            <a:avLst/>
          </a:prstGeom>
          <a:noFill/>
        </p:spPr>
        <p:txBody>
          <a:bodyPr wrap="square" lIns="0" rIns="0" tIns="0" bIns="0">
            <a:spAutoFit/>
          </a:bodyPr>
          <a:lstStyle/>
          <a:p>
            <a:pPr algn="l">
              <a:lnSpc>
                <a:spcPct val="122000"/>
              </a:lnSpc>
              <a:spcAft>
                <a:spcPts val="0"/>
              </a:spcAft>
            </a:pPr>
            <a:r>
              <a:rPr sz="1250" b="0">
                <a:solidFill>
                  <a:srgbClr val="7A6F5D"/>
                </a:solidFill>
                <a:latin typeface="Segoe UI"/>
              </a:rPr>
              <a:t>Set by DEFAULT_USER_PASSWORD in this install’s .env file, and shown in full on the Families and Users pages — the office has to be able to put it in the email. Anyone still on it is reminded on every page until they choose their own.</a:t>
            </a:r>
          </a:p>
        </p:txBody>
      </p:sp>
      <p:sp>
        <p:nvSpPr>
          <p:cNvPr id="21" name="TextBox 20"/>
          <p:cNvSpPr txBox="1"/>
          <p:nvPr/>
        </p:nvSpPr>
        <p:spPr>
          <a:xfrm>
            <a:off x="10972800" y="6419088"/>
            <a:ext cx="649224" cy="274320"/>
          </a:xfrm>
          <a:prstGeom prst="rect">
            <a:avLst/>
          </a:prstGeom>
          <a:noFill/>
        </p:spPr>
        <p:txBody>
          <a:bodyPr wrap="square" lIns="0" rIns="0" tIns="0" bIns="0">
            <a:spAutoFit/>
          </a:bodyPr>
          <a:lstStyle/>
          <a:p>
            <a:pPr algn="r">
              <a:spcAft>
                <a:spcPts val="0"/>
              </a:spcAft>
            </a:pPr>
            <a:r>
              <a:rPr sz="1100" b="0">
                <a:solidFill>
                  <a:srgbClr val="7A6F5D"/>
                </a:solidFill>
                <a:latin typeface="Segoe UI"/>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